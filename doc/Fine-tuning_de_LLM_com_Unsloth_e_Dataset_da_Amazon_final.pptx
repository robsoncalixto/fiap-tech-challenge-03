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80C43A-9594-6D47-2AFF-23856D0FD92E}" v="1163" dt="2025-10-07T00:47:19.0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730" y="3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41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6C872-47E4-F825-3661-96BE15C3C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3C8B79-37D5-4DCE-E1F7-91F4194A5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20D7E8-2BF6-0B98-B3AD-D07FDF874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4C198-50B1-42D5-AC5A-155BC996902D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AE7492-23E9-38E3-7A56-878097A53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71D231-D57D-AC2D-0DB4-376D216AC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989A0-F4D3-4992-9F91-0578586DA9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7455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bin"/><Relationship Id="rId4" Type="http://schemas.openxmlformats.org/officeDocument/2006/relationships/image" Target="../media/image3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bin"/><Relationship Id="rId4" Type="http://schemas.openxmlformats.org/officeDocument/2006/relationships/image" Target="../media/image8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bin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bin"/><Relationship Id="rId5" Type="http://schemas.openxmlformats.org/officeDocument/2006/relationships/image" Target="../media/image13.bin"/><Relationship Id="rId4" Type="http://schemas.openxmlformats.org/officeDocument/2006/relationships/image" Target="../media/image12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bin"/><Relationship Id="rId3" Type="http://schemas.openxmlformats.org/officeDocument/2006/relationships/image" Target="../media/image16.bin"/><Relationship Id="rId7" Type="http://schemas.openxmlformats.org/officeDocument/2006/relationships/image" Target="../media/image20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bin"/><Relationship Id="rId11" Type="http://schemas.openxmlformats.org/officeDocument/2006/relationships/image" Target="../media/image24.png"/><Relationship Id="rId5" Type="http://schemas.openxmlformats.org/officeDocument/2006/relationships/image" Target="../media/image18.bin"/><Relationship Id="rId10" Type="http://schemas.openxmlformats.org/officeDocument/2006/relationships/image" Target="../media/image23.bin"/><Relationship Id="rId4" Type="http://schemas.openxmlformats.org/officeDocument/2006/relationships/image" Target="../media/image17.bin"/><Relationship Id="rId9" Type="http://schemas.openxmlformats.org/officeDocument/2006/relationships/image" Target="../media/image2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bin"/><Relationship Id="rId3" Type="http://schemas.openxmlformats.org/officeDocument/2006/relationships/image" Target="../media/image25.bin"/><Relationship Id="rId7" Type="http://schemas.openxmlformats.org/officeDocument/2006/relationships/image" Target="../media/image29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bin"/><Relationship Id="rId5" Type="http://schemas.openxmlformats.org/officeDocument/2006/relationships/image" Target="../media/image27.bin"/><Relationship Id="rId10" Type="http://schemas.openxmlformats.org/officeDocument/2006/relationships/image" Target="../media/image32.png"/><Relationship Id="rId4" Type="http://schemas.openxmlformats.org/officeDocument/2006/relationships/image" Target="../media/image26.bin"/><Relationship Id="rId9" Type="http://schemas.openxmlformats.org/officeDocument/2006/relationships/image" Target="../media/image31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5784337-218C-62F6-B404-6AB53F470B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 r="-1" b="28100"/>
          <a:stretch>
            <a:fillRect/>
          </a:stretch>
        </p:blipFill>
        <p:spPr>
          <a:xfrm>
            <a:off x="0" y="7"/>
            <a:ext cx="9144000" cy="514349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20BEEA4-344A-1AD8-8506-6518C6E4D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7593" y="992280"/>
            <a:ext cx="4553859" cy="1122165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Tech Challenge – Fase 3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Grupo 49</a:t>
            </a:r>
            <a:endParaRPr lang="pt-BR" sz="3600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501658-0561-C66C-3401-AE2A7A698F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2409" y="2167385"/>
            <a:ext cx="4182975" cy="937142"/>
          </a:xfrm>
        </p:spPr>
        <p:txBody>
          <a:bodyPr lIns="91440" tIns="45720" rIns="91440" bIns="45720" anchor="t">
            <a:normAutofit/>
          </a:bodyPr>
          <a:lstStyle/>
          <a:p>
            <a:pPr algn="l"/>
            <a:r>
              <a:rPr lang="pt-BR" sz="1500" dirty="0" err="1">
                <a:solidFill>
                  <a:schemeClr val="bg1"/>
                </a:solidFill>
              </a:rPr>
              <a:t>Araguacy</a:t>
            </a:r>
            <a:r>
              <a:rPr lang="pt-BR" sz="1500" dirty="0">
                <a:solidFill>
                  <a:schemeClr val="bg1"/>
                </a:solidFill>
              </a:rPr>
              <a:t> Bezerra Pereira       RM362367</a:t>
            </a:r>
          </a:p>
          <a:p>
            <a:pPr algn="l"/>
            <a:r>
              <a:rPr lang="pt-BR" sz="1500" dirty="0">
                <a:solidFill>
                  <a:schemeClr val="bg1"/>
                </a:solidFill>
              </a:rPr>
              <a:t>Robson Carvalho Calixto        RM362870</a:t>
            </a:r>
            <a:endParaRPr lang="pt-BR" sz="1500" dirty="0">
              <a:solidFill>
                <a:schemeClr val="bg1"/>
              </a:solidFill>
              <a:ea typeface="Calibri"/>
              <a:cs typeface="Calibri"/>
            </a:endParaRPr>
          </a:p>
          <a:p>
            <a:pPr algn="l"/>
            <a:r>
              <a:rPr lang="pt-BR" sz="1500" dirty="0">
                <a:solidFill>
                  <a:schemeClr val="bg1"/>
                </a:solidFill>
              </a:rPr>
              <a:t>Vinicius Fernando M. Costa   RM363007</a:t>
            </a:r>
            <a:endParaRPr lang="pt-BR" sz="15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CFA75D2A-A92E-1CFC-1DC1-BEE1B2AEF383}"/>
              </a:ext>
            </a:extLst>
          </p:cNvPr>
          <p:cNvSpPr/>
          <p:nvPr/>
        </p:nvSpPr>
        <p:spPr>
          <a:xfrm>
            <a:off x="3949948" y="4869933"/>
            <a:ext cx="180452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FIAP Pós-Tech IA para Devs</a:t>
            </a:r>
            <a:endParaRPr lang="en-US" sz="1046" dirty="0"/>
          </a:p>
        </p:txBody>
      </p:sp>
    </p:spTree>
    <p:extLst>
      <p:ext uri="{BB962C8B-B14F-4D97-AF65-F5344CB8AC3E}">
        <p14:creationId xmlns:p14="http://schemas.microsoft.com/office/powerpoint/2010/main" val="2481462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42900" y="342900"/>
            <a:ext cx="84582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Objetivo do Projeto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342900" y="957263"/>
            <a:ext cx="4000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que buscamos realizar?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39461" y="1438209"/>
            <a:ext cx="4053899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Realizar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o </a:t>
            </a:r>
            <a:r>
              <a:rPr lang="en-US" sz="1000" b="1" dirty="0">
                <a:solidFill>
                  <a:srgbClr val="3B82F6"/>
                </a:solidFill>
                <a:latin typeface="Noto Sans"/>
                <a:ea typeface="Noto Sans"/>
                <a:cs typeface="Noto Sans"/>
              </a:rPr>
              <a:t>fine-tuning</a:t>
            </a:r>
            <a:r>
              <a:rPr lang="en-US" sz="1000" b="1" dirty="0"/>
              <a:t> 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de um LLM (Large Language Model) com o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objetivo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 de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gerar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descrições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de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produtos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da Amazon.</a:t>
            </a:r>
            <a:endParaRPr lang="en-US" sz="1000">
              <a:latin typeface="Noto Sans"/>
              <a:ea typeface="Noto Sans"/>
              <a:cs typeface="Noto San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42899" y="1908674"/>
            <a:ext cx="3982409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Utilizando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a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biblioteca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 </a:t>
            </a:r>
            <a:r>
              <a:rPr lang="en-US" sz="1000" b="1" dirty="0" err="1">
                <a:solidFill>
                  <a:srgbClr val="3B82F6"/>
                </a:solidFill>
                <a:latin typeface="Noto Sans"/>
                <a:ea typeface="Noto Sans"/>
                <a:cs typeface="Noto Sans"/>
              </a:rPr>
              <a:t>Unsloth</a:t>
            </a:r>
            <a:r>
              <a:rPr lang="en-US" sz="1000" b="1" dirty="0">
                <a:solidFill>
                  <a:srgbClr val="3B82F6"/>
                </a:solidFill>
                <a:latin typeface="Noto Sans"/>
                <a:ea typeface="Noto Sans"/>
                <a:cs typeface="Noto Sans"/>
              </a:rPr>
              <a:t> 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para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otimizar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o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processo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de </a:t>
            </a:r>
            <a:endParaRPr lang="en-US" sz="1000" dirty="0">
              <a:latin typeface="Noto Sans"/>
              <a:ea typeface="Noto Sans"/>
              <a:cs typeface="Noto Sans"/>
            </a:endParaRPr>
          </a:p>
          <a:p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treinamento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mesmo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com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recursos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computacionais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limitados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do Google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Colab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.</a:t>
            </a:r>
            <a:endParaRPr lang="en-US" sz="1000" dirty="0">
              <a:latin typeface="Noto Sans"/>
              <a:ea typeface="Noto Sans"/>
              <a:cs typeface="Noto San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68770" y="2674317"/>
            <a:ext cx="4000500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Demonstrar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a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viabilidade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de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especializar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um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modelo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base  para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uma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tarefa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específica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 de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compor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a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descricção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do  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produtos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,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utilizando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um dataset com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mais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de 2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milhões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de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registros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.</a:t>
            </a:r>
            <a:endParaRPr lang="en-US" sz="1000" dirty="0">
              <a:latin typeface="Noto Sans"/>
              <a:ea typeface="Noto Sans"/>
              <a:cs typeface="Noto San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342900" y="3829050"/>
            <a:ext cx="84582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Desafios principais</a:t>
            </a:r>
            <a:endParaRPr lang="en-US" sz="13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4236244"/>
            <a:ext cx="125016" cy="1428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5066" y="4200525"/>
            <a:ext cx="168609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Grande volume de dados</a:t>
            </a:r>
            <a:endParaRPr lang="en-US" sz="1046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09" y="4236244"/>
            <a:ext cx="142875" cy="1428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476634" y="4200525"/>
            <a:ext cx="160234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Limitações de hardware</a:t>
            </a:r>
            <a:endParaRPr lang="en-US" sz="1046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19" y="4236244"/>
            <a:ext cx="178594" cy="14287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331762" y="4200525"/>
            <a:ext cx="177681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Otimização de parâmetros</a:t>
            </a:r>
            <a:endParaRPr lang="en-US" sz="1046" dirty="0"/>
          </a:p>
        </p:txBody>
      </p:sp>
      <p:sp>
        <p:nvSpPr>
          <p:cNvPr id="24" name="Text 17"/>
          <p:cNvSpPr/>
          <p:nvPr/>
        </p:nvSpPr>
        <p:spPr>
          <a:xfrm>
            <a:off x="7786521" y="4780782"/>
            <a:ext cx="1102866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just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Grupo 49 - FIAP Pós-Tech</a:t>
            </a:r>
            <a:endParaRPr lang="en-US" sz="732" dirty="0"/>
          </a:p>
        </p:txBody>
      </p:sp>
      <p:pic>
        <p:nvPicPr>
          <p:cNvPr id="27" name="Imagem 26" descr="Uma imagem contendo Diagrama&#10;&#10;O conteúdo gerado por IA pode estar incorreto.">
            <a:extLst>
              <a:ext uri="{FF2B5EF4-FFF2-40B4-BE49-F238E27FC236}">
                <a16:creationId xmlns:a16="http://schemas.microsoft.com/office/drawing/2014/main" id="{466BF395-E3C1-38F7-5A2C-6320A37007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0252" y="1086787"/>
            <a:ext cx="4113394" cy="27422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6883" y="338271"/>
            <a:ext cx="2992548" cy="3385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Noto Sans"/>
                <a:ea typeface="Noto Sans"/>
                <a:cs typeface="Noto Sans"/>
              </a:rPr>
              <a:t>Dataset </a:t>
            </a:r>
            <a:r>
              <a:rPr lang="en-US" sz="2200" b="1" err="1">
                <a:solidFill>
                  <a:srgbClr val="1E3A8A"/>
                </a:solidFill>
                <a:latin typeface="Noto Sans"/>
                <a:ea typeface="Noto Sans"/>
                <a:cs typeface="Noto Sans"/>
              </a:rPr>
              <a:t>AmazonTitles</a:t>
            </a:r>
            <a:endParaRPr lang="en-US" sz="2200" err="1"/>
          </a:p>
        </p:txBody>
      </p:sp>
      <p:sp>
        <p:nvSpPr>
          <p:cNvPr id="4" name="Text 1"/>
          <p:cNvSpPr/>
          <p:nvPr/>
        </p:nvSpPr>
        <p:spPr>
          <a:xfrm>
            <a:off x="285750" y="954088"/>
            <a:ext cx="42005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Características do Dataset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57200" y="1215181"/>
            <a:ext cx="3366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</a:t>
            </a:r>
            <a:endParaRPr lang="en-US" sz="1046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84749" y="1365252"/>
            <a:ext cx="3832706" cy="11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171450" indent="-171450">
              <a:lnSpc>
                <a:spcPct val="200000"/>
              </a:lnSpc>
              <a:buFont typeface="Courier New" panose="020B0604020202020204" pitchFamily="34" charset="0"/>
              <a:buChar char="o"/>
            </a:pP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Mais de </a:t>
            </a:r>
            <a:r>
              <a:rPr lang="en-US" sz="1000" b="1" dirty="0">
                <a:solidFill>
                  <a:srgbClr val="3B82F6"/>
                </a:solidFill>
                <a:latin typeface="Noto Sans"/>
                <a:ea typeface="Noto Sans"/>
                <a:cs typeface="Noto Sans"/>
              </a:rPr>
              <a:t>2.2 </a:t>
            </a:r>
            <a:r>
              <a:rPr lang="en-US" sz="1000" b="1" dirty="0" err="1">
                <a:solidFill>
                  <a:srgbClr val="3B82F6"/>
                </a:solidFill>
                <a:latin typeface="Noto Sans"/>
                <a:ea typeface="Noto Sans"/>
                <a:cs typeface="Noto Sans"/>
              </a:rPr>
              <a:t>milhões</a:t>
            </a:r>
            <a:r>
              <a:rPr lang="en-US" sz="1000" b="1" dirty="0">
                <a:solidFill>
                  <a:srgbClr val="3B82F6"/>
                </a:solidFill>
                <a:latin typeface="Noto Sans"/>
                <a:ea typeface="Noto Sans"/>
                <a:cs typeface="Noto Sans"/>
              </a:rPr>
              <a:t> 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de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registros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de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produtos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;</a:t>
            </a:r>
          </a:p>
          <a:p>
            <a:pPr marL="171450" indent="-171450">
              <a:lnSpc>
                <a:spcPct val="200000"/>
              </a:lnSpc>
              <a:buFont typeface="Courier New" panose="020B0604020202020204" pitchFamily="34" charset="0"/>
              <a:buChar char="o"/>
            </a:pP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Cada </a:t>
            </a:r>
            <a:r>
              <a:rPr lang="en-US" sz="100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registro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US" sz="100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contém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 </a:t>
            </a:r>
            <a:r>
              <a:rPr lang="en-US" sz="1000" b="1" err="1">
                <a:solidFill>
                  <a:srgbClr val="3B82F6"/>
                </a:solidFill>
                <a:latin typeface="Noto Sans"/>
                <a:ea typeface="Noto Sans"/>
                <a:cs typeface="Noto Sans"/>
              </a:rPr>
              <a:t>título</a:t>
            </a:r>
            <a:r>
              <a:rPr lang="en-US" sz="1000" b="1" dirty="0">
                <a:solidFill>
                  <a:srgbClr val="3B82F6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US" sz="1000" dirty="0">
                <a:latin typeface="Noto Sans"/>
                <a:ea typeface="Noto Sans"/>
                <a:cs typeface="Noto Sans"/>
              </a:rPr>
              <a:t>e</a:t>
            </a:r>
            <a:r>
              <a:rPr lang="en-US" sz="1000" b="1" dirty="0">
                <a:solidFill>
                  <a:srgbClr val="3B82F6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US" sz="1000" b="1" err="1">
                <a:solidFill>
                  <a:srgbClr val="3B82F6"/>
                </a:solidFill>
                <a:latin typeface="Noto Sans"/>
                <a:ea typeface="Noto Sans"/>
                <a:cs typeface="Noto Sans"/>
              </a:rPr>
              <a:t>descrição</a:t>
            </a:r>
            <a:r>
              <a:rPr lang="en-US" sz="1000" dirty="0">
                <a:latin typeface="Noto Sans"/>
                <a:ea typeface="Noto Sans"/>
                <a:cs typeface="Noto Sans"/>
              </a:rPr>
              <a:t>; </a:t>
            </a:r>
            <a:endParaRPr lang="en-U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>
              <a:lnSpc>
                <a:spcPct val="200000"/>
              </a:lnSpc>
              <a:buFont typeface="Courier New" panose="020B0604020202020204" pitchFamily="34" charset="0"/>
              <a:buChar char="o"/>
            </a:pP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Dados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extraídos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de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consultas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textuais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reais de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usuários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;</a:t>
            </a:r>
            <a:endParaRPr lang="en-US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71450" indent="-171450">
              <a:lnSpc>
                <a:spcPct val="200000"/>
              </a:lnSpc>
              <a:buFont typeface="Courier New" panose="020B0604020202020204" pitchFamily="34" charset="0"/>
              <a:buChar char="o"/>
            </a:pP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Formato original: JSON </a:t>
            </a:r>
            <a:r>
              <a:rPr lang="en-US" sz="100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convertido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para o </a:t>
            </a:r>
            <a:r>
              <a:rPr lang="en-US" sz="100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formato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 </a:t>
            </a:r>
            <a:r>
              <a:rPr lang="en-US" sz="1000" b="1" dirty="0">
                <a:solidFill>
                  <a:srgbClr val="3B82F6"/>
                </a:solidFill>
                <a:latin typeface="Noto Sans"/>
                <a:ea typeface="Noto Sans"/>
                <a:cs typeface="Noto Sans"/>
              </a:rPr>
              <a:t>Parquet</a:t>
            </a:r>
            <a:r>
              <a:rPr lang="en-US" sz="1000" dirty="0">
                <a:solidFill>
                  <a:srgbClr val="3B82F6"/>
                </a:solidFill>
                <a:latin typeface="Noto Sans"/>
                <a:ea typeface="Noto Sans"/>
                <a:cs typeface="Noto Sans"/>
              </a:rPr>
              <a:t>;</a:t>
            </a:r>
            <a:endParaRPr lang="en-US" sz="1000" dirty="0">
              <a:solidFill>
                <a:srgbClr val="000000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7" name="Text 4"/>
          <p:cNvSpPr/>
          <p:nvPr/>
        </p:nvSpPr>
        <p:spPr>
          <a:xfrm>
            <a:off x="1807676" y="1215181"/>
            <a:ext cx="3366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</a:t>
            </a:r>
            <a:endParaRPr lang="en-US" sz="1000" dirty="0">
              <a:latin typeface="Noto Sans"/>
              <a:ea typeface="Noto Sans"/>
              <a:cs typeface="Noto San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7200" y="2029569"/>
            <a:ext cx="6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endParaRPr lang="en-US" sz="1000" dirty="0">
              <a:solidFill>
                <a:srgbClr val="111827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125112" y="2029569"/>
            <a:ext cx="6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endParaRPr lang="en-US" sz="1000" b="1" dirty="0">
              <a:solidFill>
                <a:srgbClr val="3B82F6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285750" y="2771332"/>
            <a:ext cx="1960473" cy="2077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350" b="1" dirty="0" err="1">
                <a:solidFill>
                  <a:srgbClr val="3B82F6"/>
                </a:solidFill>
                <a:latin typeface="Noto Sans"/>
                <a:ea typeface="Noto Sans"/>
                <a:cs typeface="Noto Sans"/>
              </a:rPr>
              <a:t>Tratamento</a:t>
            </a:r>
            <a:r>
              <a:rPr lang="en-US" sz="1350" b="1" dirty="0">
                <a:solidFill>
                  <a:srgbClr val="3B82F6"/>
                </a:solidFill>
                <a:latin typeface="Noto Sans"/>
                <a:ea typeface="Noto Sans"/>
                <a:cs typeface="Noto Sans"/>
              </a:rPr>
              <a:t> dos Dados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285750" y="3093346"/>
            <a:ext cx="4057201" cy="1187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171450" indent="-171450">
              <a:lnSpc>
                <a:spcPct val="200000"/>
              </a:lnSpc>
              <a:buFont typeface="Courier New"/>
              <a:buChar char="o"/>
            </a:pP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Uso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do Google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Colab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e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PySpark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para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processamento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distribuído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;</a:t>
            </a:r>
          </a:p>
          <a:p>
            <a:pPr marL="171450" indent="-171450">
              <a:lnSpc>
                <a:spcPct val="200000"/>
              </a:lnSpc>
              <a:buFont typeface="Courier New"/>
              <a:buChar char="o"/>
            </a:pP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Remoção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de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valores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missing e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termos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 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inúteis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;</a:t>
            </a:r>
          </a:p>
          <a:p>
            <a:pPr marL="171450" indent="-171450">
              <a:lnSpc>
                <a:spcPct val="200000"/>
              </a:lnSpc>
              <a:buFont typeface="Courier New"/>
              <a:buChar char="o"/>
            </a:pP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Filtragem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em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90% de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significância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para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título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e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descrição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;</a:t>
            </a:r>
          </a:p>
          <a:p>
            <a:pPr marL="171450" indent="-171450">
              <a:lnSpc>
                <a:spcPct val="200000"/>
              </a:lnSpc>
              <a:buFont typeface="Courier New"/>
              <a:buChar char="o"/>
            </a:pP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Amostragem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randomizada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de </a:t>
            </a:r>
            <a:r>
              <a:rPr lang="en-US" sz="1000" b="1" dirty="0">
                <a:solidFill>
                  <a:srgbClr val="3B82F6"/>
                </a:solidFill>
                <a:latin typeface="Noto Sans"/>
                <a:ea typeface="Noto Sans"/>
                <a:cs typeface="Noto Sans"/>
              </a:rPr>
              <a:t>100.000 </a:t>
            </a:r>
            <a:r>
              <a:rPr lang="en-US" sz="1000" b="1" dirty="0" err="1">
                <a:solidFill>
                  <a:srgbClr val="3B82F6"/>
                </a:solidFill>
                <a:latin typeface="Noto Sans"/>
                <a:ea typeface="Noto Sans"/>
                <a:cs typeface="Noto Sans"/>
              </a:rPr>
              <a:t>registros</a:t>
            </a:r>
            <a:r>
              <a:rPr lang="en-US" sz="1000" b="1" dirty="0">
                <a:solidFill>
                  <a:srgbClr val="3B82F6"/>
                </a:solidFill>
                <a:latin typeface="Noto Sans"/>
                <a:ea typeface="Noto Sans"/>
                <a:cs typeface="Noto Sans"/>
              </a:rPr>
              <a:t>;</a:t>
            </a:r>
            <a:endParaRPr lang="en-US" sz="1000" dirty="0">
              <a:solidFill>
                <a:srgbClr val="000000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57200" y="3944987"/>
            <a:ext cx="6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endParaRPr lang="en-US" sz="1000" dirty="0">
              <a:solidFill>
                <a:srgbClr val="111827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457200" y="4215556"/>
            <a:ext cx="6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endParaRPr lang="en-US" sz="1000" dirty="0">
              <a:solidFill>
                <a:srgbClr val="111827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7433063" y="4688620"/>
            <a:ext cx="117076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Grupo 49 - FIAP Pós-Tech</a:t>
            </a:r>
            <a:endParaRPr lang="en-US" sz="732" dirty="0"/>
          </a:p>
        </p:txBody>
      </p:sp>
      <p:pic>
        <p:nvPicPr>
          <p:cNvPr id="23" name="Imagem 22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F225E96B-B307-2496-F43E-F34901478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6738" y="463550"/>
            <a:ext cx="1152525" cy="3629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42900" y="342900"/>
            <a:ext cx="84582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Pipeline de Processamento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342900" y="957263"/>
            <a:ext cx="4000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Notebooks Sequenciais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342900" y="1241425"/>
            <a:ext cx="4000500" cy="496889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358775" y="1209675"/>
            <a:ext cx="28575" cy="52863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28625" y="1327150"/>
            <a:ext cx="38290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Descompactação e Extração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412750" y="1470025"/>
            <a:ext cx="38290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Processamento inicial do dataset e filtragem de registros inválidos</a:t>
            </a:r>
            <a:endParaRPr lang="en-US" sz="732" dirty="0"/>
          </a:p>
        </p:txBody>
      </p:sp>
      <p:sp>
        <p:nvSpPr>
          <p:cNvPr id="9" name="Shape 6"/>
          <p:cNvSpPr/>
          <p:nvPr/>
        </p:nvSpPr>
        <p:spPr>
          <a:xfrm>
            <a:off x="342900" y="1884363"/>
            <a:ext cx="4000500" cy="52863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342900" y="1884363"/>
            <a:ext cx="28575" cy="496889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28625" y="1970088"/>
            <a:ext cx="38290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Tratamento e Limpeza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428625" y="2184400"/>
            <a:ext cx="38290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Remoção de tags HTML, URLs, e-mails e caracteres especiais</a:t>
            </a:r>
            <a:endParaRPr lang="en-US" sz="732" dirty="0"/>
          </a:p>
        </p:txBody>
      </p:sp>
      <p:sp>
        <p:nvSpPr>
          <p:cNvPr id="13" name="Shape 10"/>
          <p:cNvSpPr/>
          <p:nvPr/>
        </p:nvSpPr>
        <p:spPr>
          <a:xfrm>
            <a:off x="342900" y="2527300"/>
            <a:ext cx="4000500" cy="496889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342900" y="2495550"/>
            <a:ext cx="28575" cy="52863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428625" y="2613025"/>
            <a:ext cx="38290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Amostragem e Formatação</a:t>
            </a:r>
            <a:endParaRPr lang="en-US" sz="1046" dirty="0"/>
          </a:p>
        </p:txBody>
      </p:sp>
      <p:sp>
        <p:nvSpPr>
          <p:cNvPr id="16" name="Text 13"/>
          <p:cNvSpPr/>
          <p:nvPr/>
        </p:nvSpPr>
        <p:spPr>
          <a:xfrm>
            <a:off x="428625" y="2827338"/>
            <a:ext cx="38290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Amostragem estratificada e conversão para template Alpaca</a:t>
            </a:r>
            <a:endParaRPr lang="en-US" sz="732" dirty="0"/>
          </a:p>
        </p:txBody>
      </p:sp>
      <p:sp>
        <p:nvSpPr>
          <p:cNvPr id="17" name="Shape 14"/>
          <p:cNvSpPr/>
          <p:nvPr/>
        </p:nvSpPr>
        <p:spPr>
          <a:xfrm>
            <a:off x="342900" y="3170238"/>
            <a:ext cx="4000500" cy="496889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358775" y="3138488"/>
            <a:ext cx="28575" cy="52863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428625" y="3255963"/>
            <a:ext cx="38290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 Fine-tuning</a:t>
            </a:r>
            <a:endParaRPr lang="en-US" sz="1046" dirty="0"/>
          </a:p>
        </p:txBody>
      </p:sp>
      <p:sp>
        <p:nvSpPr>
          <p:cNvPr id="20" name="Text 17"/>
          <p:cNvSpPr/>
          <p:nvPr/>
        </p:nvSpPr>
        <p:spPr>
          <a:xfrm>
            <a:off x="428625" y="3470275"/>
            <a:ext cx="38290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Treinamento do modelo e análise dos resultados</a:t>
            </a:r>
            <a:endParaRPr lang="en-US" sz="732" dirty="0"/>
          </a:p>
        </p:txBody>
      </p:sp>
      <p:sp>
        <p:nvSpPr>
          <p:cNvPr id="22" name="Text 18"/>
          <p:cNvSpPr/>
          <p:nvPr/>
        </p:nvSpPr>
        <p:spPr>
          <a:xfrm>
            <a:off x="358775" y="3824288"/>
            <a:ext cx="84582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Benefícios da Abordagem Modular</a:t>
            </a:r>
            <a:endParaRPr lang="en-US" sz="13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63" y="4176713"/>
            <a:ext cx="134938" cy="13493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63563" y="4201509"/>
            <a:ext cx="2476481" cy="3218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Execução sem interrupção no ambiente do Google Colab</a:t>
            </a:r>
            <a:endParaRPr lang="en-US" sz="1046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8671" y="4176713"/>
            <a:ext cx="117961" cy="13493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479412" y="4148138"/>
            <a:ext cx="238004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Facilita a reprodução do experimento</a:t>
            </a:r>
            <a:endParaRPr lang="en-US" sz="1046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8081" y="4176713"/>
            <a:ext cx="134938" cy="13493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316681" y="4148138"/>
            <a:ext cx="24764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Permite ajustes independentes em cada etapa</a:t>
            </a:r>
            <a:endParaRPr lang="en-US" sz="1046" dirty="0"/>
          </a:p>
        </p:txBody>
      </p:sp>
      <p:sp>
        <p:nvSpPr>
          <p:cNvPr id="29" name="Text 22"/>
          <p:cNvSpPr/>
          <p:nvPr/>
        </p:nvSpPr>
        <p:spPr>
          <a:xfrm>
            <a:off x="7625571" y="4686300"/>
            <a:ext cx="117076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Grupo 49 - FIAP Pós-Tech</a:t>
            </a:r>
            <a:endParaRPr lang="en-US" sz="732" dirty="0"/>
          </a:p>
        </p:txBody>
      </p:sp>
      <p:pic>
        <p:nvPicPr>
          <p:cNvPr id="33" name="Imagem 32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04B65306-FBDF-AA1C-7DA2-F248394659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9" t="588" r="13584" b="9018"/>
          <a:stretch>
            <a:fillRect/>
          </a:stretch>
        </p:blipFill>
        <p:spPr>
          <a:xfrm>
            <a:off x="4915557" y="909337"/>
            <a:ext cx="2501372" cy="2549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3148" y="2821780"/>
            <a:ext cx="3970690" cy="22335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79969"/>
            <a:ext cx="2673809" cy="3116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Modelo e </a:t>
            </a:r>
            <a:r>
              <a:rPr lang="en-US" sz="2025" b="1" dirty="0" err="1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Bibliotecas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342900" y="1028700"/>
            <a:ext cx="4000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Modelo Base Selecionado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2900" y="1409105"/>
            <a:ext cx="208871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unsloth/Llama-3.2-1B-Instruct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514350" y="1728788"/>
            <a:ext cx="38290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Versão do Llama 3.2 com 1 bilhão de parâmetros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514350" y="2026936"/>
            <a:ext cx="2960747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 err="1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Modelo</a:t>
            </a: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046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Instruct</a:t>
            </a: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já preparado para fine-tuning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514350" y="2271713"/>
            <a:ext cx="38290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Pré-treinado com formato de chat específico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514350" y="2543175"/>
            <a:ext cx="38290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Quantizado em 8-bit para redução de memória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514350" y="2814638"/>
            <a:ext cx="38290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Escolhido pela compatibilidade com recursos limitados</a:t>
            </a:r>
            <a:endParaRPr lang="en-US" sz="1046" dirty="0"/>
          </a:p>
        </p:txBody>
      </p:sp>
      <p:sp>
        <p:nvSpPr>
          <p:cNvPr id="12" name="Text 8"/>
          <p:cNvSpPr/>
          <p:nvPr/>
        </p:nvSpPr>
        <p:spPr>
          <a:xfrm>
            <a:off x="342900" y="3328988"/>
            <a:ext cx="84582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Biblioteca Unsloth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342900" y="3700463"/>
            <a:ext cx="2743200" cy="74295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342900" y="3700463"/>
            <a:ext cx="28575" cy="7429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29050"/>
            <a:ext cx="107156" cy="1428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506" y="3814763"/>
            <a:ext cx="76845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Aceleração 4x</a:t>
            </a:r>
            <a:endParaRPr lang="en-US" sz="837" dirty="0"/>
          </a:p>
        </p:txBody>
      </p:sp>
      <p:sp>
        <p:nvSpPr>
          <p:cNvPr id="17" name="Text 12"/>
          <p:cNvSpPr/>
          <p:nvPr/>
        </p:nvSpPr>
        <p:spPr>
          <a:xfrm>
            <a:off x="457200" y="4043363"/>
            <a:ext cx="251404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Treinamento até 4x mais rápido que LoRA tradicional</a:t>
            </a:r>
            <a:endParaRPr lang="en-US" sz="732" dirty="0"/>
          </a:p>
        </p:txBody>
      </p:sp>
      <p:sp>
        <p:nvSpPr>
          <p:cNvPr id="18" name="Shape 13"/>
          <p:cNvSpPr/>
          <p:nvPr/>
        </p:nvSpPr>
        <p:spPr>
          <a:xfrm>
            <a:off x="3199842" y="3700463"/>
            <a:ext cx="2743479" cy="74295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4"/>
          <p:cNvSpPr/>
          <p:nvPr/>
        </p:nvSpPr>
        <p:spPr>
          <a:xfrm>
            <a:off x="3199842" y="3700463"/>
            <a:ext cx="28575" cy="7429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421" y="3829050"/>
            <a:ext cx="142875" cy="1428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514446" y="3814763"/>
            <a:ext cx="13298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Otimização de Memória</a:t>
            </a:r>
            <a:endParaRPr lang="en-US" sz="837" dirty="0"/>
          </a:p>
        </p:txBody>
      </p:sp>
      <p:sp>
        <p:nvSpPr>
          <p:cNvPr id="22" name="Text 16"/>
          <p:cNvSpPr/>
          <p:nvPr/>
        </p:nvSpPr>
        <p:spPr>
          <a:xfrm>
            <a:off x="3314421" y="4043363"/>
            <a:ext cx="251432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Técnica QLoRA para redução significativa do consumo de memória</a:t>
            </a:r>
            <a:endParaRPr lang="en-US" sz="732" dirty="0"/>
          </a:p>
        </p:txBody>
      </p:sp>
      <p:sp>
        <p:nvSpPr>
          <p:cNvPr id="23" name="Shape 17"/>
          <p:cNvSpPr/>
          <p:nvPr/>
        </p:nvSpPr>
        <p:spPr>
          <a:xfrm>
            <a:off x="6057342" y="3700463"/>
            <a:ext cx="2743758" cy="74295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18"/>
          <p:cNvSpPr/>
          <p:nvPr/>
        </p:nvSpPr>
        <p:spPr>
          <a:xfrm>
            <a:off x="6057342" y="3700463"/>
            <a:ext cx="28575" cy="7429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829050"/>
            <a:ext cx="178594" cy="14287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07944" y="3814763"/>
            <a:ext cx="97007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Facilidade de Uso</a:t>
            </a:r>
            <a:endParaRPr lang="en-US" sz="837" dirty="0"/>
          </a:p>
        </p:txBody>
      </p:sp>
      <p:sp>
        <p:nvSpPr>
          <p:cNvPr id="27" name="Text 20"/>
          <p:cNvSpPr/>
          <p:nvPr/>
        </p:nvSpPr>
        <p:spPr>
          <a:xfrm>
            <a:off x="6172200" y="4043363"/>
            <a:ext cx="2514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simplificada para fine-tuning de modelos de linguagem</a:t>
            </a:r>
            <a:endParaRPr lang="en-US" sz="732" dirty="0"/>
          </a:p>
        </p:txBody>
      </p:sp>
      <p:sp>
        <p:nvSpPr>
          <p:cNvPr id="28" name="Text 21"/>
          <p:cNvSpPr/>
          <p:nvPr/>
        </p:nvSpPr>
        <p:spPr>
          <a:xfrm>
            <a:off x="7627403" y="4667983"/>
            <a:ext cx="117076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Grupo 49 - FIAP Pós-Tech</a:t>
            </a:r>
            <a:endParaRPr lang="en-US" sz="732" dirty="0"/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AB2DF9C7-31AF-F92F-418D-6442F663F4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3757" y="224058"/>
            <a:ext cx="2942240" cy="34049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42900" y="342900"/>
            <a:ext cx="84582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Técnica QLoRA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342900" y="957263"/>
            <a:ext cx="4000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que é QLoRA?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2900" y="1358056"/>
            <a:ext cx="6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000" b="1" dirty="0">
              <a:solidFill>
                <a:srgbClr val="3B82F6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6" name="Text 3"/>
          <p:cNvSpPr/>
          <p:nvPr/>
        </p:nvSpPr>
        <p:spPr>
          <a:xfrm>
            <a:off x="341335" y="1284787"/>
            <a:ext cx="832279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US" sz="1000" b="1" dirty="0" err="1">
                <a:solidFill>
                  <a:srgbClr val="3B82F6"/>
                </a:solidFill>
                <a:latin typeface="Noto Sans"/>
                <a:ea typeface="Noto Sans"/>
                <a:cs typeface="Noto Sans"/>
              </a:rPr>
              <a:t>QLoRA</a:t>
            </a:r>
            <a:r>
              <a:rPr lang="en-US" sz="1000" b="1" dirty="0">
                <a:solidFill>
                  <a:srgbClr val="3B82F6"/>
                </a:solidFill>
                <a:latin typeface="Noto Sans"/>
                <a:ea typeface="Noto Sans"/>
                <a:cs typeface="Noto Sans"/>
              </a:rPr>
              <a:t> 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(Quantized Low-Rank Adaptation) é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uma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técnica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de fine-tuning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que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combina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quantização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de 4-bits com 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adaptação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de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baixo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posto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. 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342900" y="1572369"/>
            <a:ext cx="6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000" dirty="0">
              <a:solidFill>
                <a:srgbClr val="111827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" name="Text 5"/>
          <p:cNvSpPr/>
          <p:nvPr/>
        </p:nvSpPr>
        <p:spPr>
          <a:xfrm>
            <a:off x="342900" y="1786681"/>
            <a:ext cx="6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000" dirty="0">
              <a:solidFill>
                <a:srgbClr val="111827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9" name="Text 6"/>
          <p:cNvSpPr/>
          <p:nvPr/>
        </p:nvSpPr>
        <p:spPr>
          <a:xfrm>
            <a:off x="328245" y="1766849"/>
            <a:ext cx="3132449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3B82F6"/>
                </a:solidFill>
                <a:latin typeface="Noto Sans"/>
                <a:ea typeface="Noto Sans"/>
                <a:cs typeface="Noto Sans"/>
              </a:rPr>
              <a:t>Principais</a:t>
            </a:r>
            <a:r>
              <a:rPr lang="en-US" sz="1350" b="1" dirty="0">
                <a:solidFill>
                  <a:srgbClr val="3B82F6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US" sz="1350" b="1" dirty="0" err="1">
                <a:solidFill>
                  <a:srgbClr val="3B82F6"/>
                </a:solidFill>
                <a:latin typeface="Noto Sans"/>
                <a:ea typeface="Noto Sans"/>
                <a:cs typeface="Noto Sans"/>
              </a:rPr>
              <a:t>vantagens</a:t>
            </a:r>
            <a:r>
              <a:rPr lang="en-US" sz="1350" b="1" dirty="0">
                <a:solidFill>
                  <a:srgbClr val="3B82F6"/>
                </a:solidFill>
                <a:latin typeface="Noto Sans"/>
                <a:ea typeface="Noto Sans"/>
                <a:cs typeface="Noto Sans"/>
              </a:rPr>
              <a:t>:</a:t>
            </a:r>
            <a:endParaRPr lang="pt-BR" sz="1350" b="1" dirty="0">
              <a:solidFill>
                <a:srgbClr val="3B82F6"/>
              </a:solidFill>
              <a:latin typeface="Noto Sans" pitchFamily="34" charset="0"/>
              <a:ea typeface="Noto Sans" pitchFamily="34" charset="-122"/>
              <a:cs typeface="Noto Sans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14350" y="2387650"/>
            <a:ext cx="6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endParaRPr lang="en-US" sz="1000" dirty="0">
              <a:solidFill>
                <a:srgbClr val="111827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489938" y="1779488"/>
            <a:ext cx="1774525" cy="5155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3B82F6"/>
                </a:solidFill>
                <a:latin typeface="Noto Sans"/>
                <a:ea typeface="Noto Sans"/>
                <a:cs typeface="Noto Sans"/>
              </a:rPr>
              <a:t>Aplicação</a:t>
            </a:r>
            <a:r>
              <a:rPr lang="en-US" sz="1350" b="1" dirty="0">
                <a:solidFill>
                  <a:srgbClr val="3B82F6"/>
                </a:solidFill>
                <a:latin typeface="Noto Sans"/>
                <a:ea typeface="Noto Sans"/>
                <a:cs typeface="Noto Sans"/>
              </a:rPr>
              <a:t> no </a:t>
            </a:r>
            <a:r>
              <a:rPr lang="en-US" sz="1350" b="1" dirty="0" err="1">
                <a:solidFill>
                  <a:srgbClr val="3B82F6"/>
                </a:solidFill>
                <a:latin typeface="Noto Sans"/>
                <a:ea typeface="Noto Sans"/>
                <a:cs typeface="Noto Sans"/>
              </a:rPr>
              <a:t>Projeto</a:t>
            </a:r>
          </a:p>
          <a:p>
            <a:endParaRPr lang="en-US" sz="1000" dirty="0">
              <a:solidFill>
                <a:srgbClr val="111827"/>
              </a:solidFill>
              <a:latin typeface="Noto Sans"/>
              <a:ea typeface="Noto Sans"/>
              <a:cs typeface="Noto Sans"/>
            </a:endParaRPr>
          </a:p>
          <a:p>
            <a:endParaRPr lang="en-US" sz="1000" dirty="0">
              <a:solidFill>
                <a:srgbClr val="111827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85775" y="3687812"/>
            <a:ext cx="6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000" dirty="0">
              <a:solidFill>
                <a:srgbClr val="111827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85775" y="3987850"/>
            <a:ext cx="6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000" dirty="0">
              <a:solidFill>
                <a:srgbClr val="111827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85775" y="4395043"/>
            <a:ext cx="3857625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000" dirty="0">
              <a:solidFill>
                <a:srgbClr val="111827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347583" y="3569814"/>
            <a:ext cx="46735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QLoRA</a:t>
            </a:r>
            <a:endParaRPr lang="en-US" sz="1046" dirty="0"/>
          </a:p>
        </p:txBody>
      </p:sp>
      <p:sp>
        <p:nvSpPr>
          <p:cNvPr id="21" name="Text 17"/>
          <p:cNvSpPr/>
          <p:nvPr/>
        </p:nvSpPr>
        <p:spPr>
          <a:xfrm>
            <a:off x="1100691" y="3516921"/>
            <a:ext cx="7065584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permitiu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treinar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o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modelo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Llama-3.2-1B-Instruct com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apenas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100 mil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registros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,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viabilizando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o fine-tuning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mesmo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com as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limitações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de hardware do Google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Colab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.</a:t>
            </a:r>
            <a:endParaRPr lang="en-US" sz="1046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4571954" y="5101381"/>
            <a:ext cx="6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endParaRPr lang="en-US" sz="1000" dirty="0">
              <a:solidFill>
                <a:srgbClr val="111827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7227259" y="4547501"/>
            <a:ext cx="117076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Grupo 49 - FIAP Pós-Tech</a:t>
            </a:r>
            <a:endParaRPr lang="en-US" sz="732" dirty="0"/>
          </a:p>
        </p:txBody>
      </p: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EA77E273-3281-5D55-9E34-D1813676C9B3}"/>
              </a:ext>
            </a:extLst>
          </p:cNvPr>
          <p:cNvGrpSpPr/>
          <p:nvPr/>
        </p:nvGrpSpPr>
        <p:grpSpPr>
          <a:xfrm>
            <a:off x="328236" y="2098613"/>
            <a:ext cx="3861344" cy="1036937"/>
            <a:chOff x="3991699" y="2999826"/>
            <a:chExt cx="3941940" cy="1014957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224E41B0-A23F-0E39-46E0-8FB49FBC2503}"/>
                </a:ext>
              </a:extLst>
            </p:cNvPr>
            <p:cNvGrpSpPr/>
            <p:nvPr/>
          </p:nvGrpSpPr>
          <p:grpSpPr>
            <a:xfrm>
              <a:off x="3991699" y="2999826"/>
              <a:ext cx="3941896" cy="296917"/>
              <a:chOff x="3680154" y="2896624"/>
              <a:chExt cx="4128881" cy="365240"/>
            </a:xfrm>
          </p:grpSpPr>
          <p:sp>
            <p:nvSpPr>
              <p:cNvPr id="24" name="Shape 14">
                <a:extLst>
                  <a:ext uri="{FF2B5EF4-FFF2-40B4-BE49-F238E27FC236}">
                    <a16:creationId xmlns:a16="http://schemas.microsoft.com/office/drawing/2014/main" id="{2B173A8F-6AC3-D788-0C31-377F1CE06142}"/>
                  </a:ext>
                </a:extLst>
              </p:cNvPr>
              <p:cNvSpPr/>
              <p:nvPr/>
            </p:nvSpPr>
            <p:spPr>
              <a:xfrm>
                <a:off x="3680154" y="2896624"/>
                <a:ext cx="81601" cy="347217"/>
              </a:xfrm>
              <a:prstGeom prst="rect">
                <a:avLst/>
              </a:prstGeom>
              <a:solidFill>
                <a:srgbClr val="3B82F6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" name="Shape 13">
                <a:extLst>
                  <a:ext uri="{FF2B5EF4-FFF2-40B4-BE49-F238E27FC236}">
                    <a16:creationId xmlns:a16="http://schemas.microsoft.com/office/drawing/2014/main" id="{C26583A3-6050-FE47-71F2-900D69A30115}"/>
                  </a:ext>
                </a:extLst>
              </p:cNvPr>
              <p:cNvSpPr/>
              <p:nvPr/>
            </p:nvSpPr>
            <p:spPr>
              <a:xfrm>
                <a:off x="3764334" y="2909008"/>
                <a:ext cx="4044701" cy="352856"/>
              </a:xfrm>
              <a:prstGeom prst="rect">
                <a:avLst/>
              </a:prstGeom>
              <a:solidFill>
                <a:srgbClr val="F3F4F6"/>
              </a:solidFill>
              <a:ln/>
            </p:spPr>
            <p:txBody>
              <a:bodyPr lIns="91440" tIns="45720" rIns="91440" bIns="45720" anchor="t"/>
              <a:lstStyle/>
              <a:p>
                <a:r>
                  <a:rPr lang="en-US" sz="1000" dirty="0" err="1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Redução</a:t>
                </a:r>
                <a:r>
                  <a:rPr lang="en-US" sz="1000" dirty="0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 </a:t>
                </a:r>
                <a:r>
                  <a:rPr lang="en-US" sz="1000" dirty="0" err="1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significativa</a:t>
                </a:r>
                <a:r>
                  <a:rPr lang="en-US" sz="1000" dirty="0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 do </a:t>
                </a:r>
                <a:r>
                  <a:rPr lang="en-US" sz="1000" dirty="0" err="1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consumo</a:t>
                </a:r>
                <a:r>
                  <a:rPr lang="en-US" sz="1000" dirty="0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 de </a:t>
                </a:r>
                <a:r>
                  <a:rPr lang="en-US" sz="1000" dirty="0" err="1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memória</a:t>
                </a:r>
                <a:r>
                  <a:rPr lang="en-US" sz="1000" dirty="0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;</a:t>
                </a:r>
                <a:endParaRPr lang="pt-BR" dirty="0"/>
              </a:p>
            </p:txBody>
          </p:sp>
        </p:grpSp>
        <p:grpSp>
          <p:nvGrpSpPr>
            <p:cNvPr id="28" name="Agrupar 27">
              <a:extLst>
                <a:ext uri="{FF2B5EF4-FFF2-40B4-BE49-F238E27FC236}">
                  <a16:creationId xmlns:a16="http://schemas.microsoft.com/office/drawing/2014/main" id="{32D86BF2-3A9C-AE07-84BA-DC827CC0862B}"/>
                </a:ext>
              </a:extLst>
            </p:cNvPr>
            <p:cNvGrpSpPr/>
            <p:nvPr/>
          </p:nvGrpSpPr>
          <p:grpSpPr>
            <a:xfrm>
              <a:off x="3991719" y="3366173"/>
              <a:ext cx="3941920" cy="289591"/>
              <a:chOff x="3680154" y="2896624"/>
              <a:chExt cx="4128881" cy="356228"/>
            </a:xfrm>
          </p:grpSpPr>
          <p:sp>
            <p:nvSpPr>
              <p:cNvPr id="29" name="Shape 14">
                <a:extLst>
                  <a:ext uri="{FF2B5EF4-FFF2-40B4-BE49-F238E27FC236}">
                    <a16:creationId xmlns:a16="http://schemas.microsoft.com/office/drawing/2014/main" id="{C4496D04-278C-A14C-78E5-BB77F43B84DF}"/>
                  </a:ext>
                </a:extLst>
              </p:cNvPr>
              <p:cNvSpPr/>
              <p:nvPr/>
            </p:nvSpPr>
            <p:spPr>
              <a:xfrm>
                <a:off x="3680154" y="2896624"/>
                <a:ext cx="81601" cy="347217"/>
              </a:xfrm>
              <a:prstGeom prst="rect">
                <a:avLst/>
              </a:prstGeom>
              <a:solidFill>
                <a:srgbClr val="3B82F6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" name="Shape 13">
                <a:extLst>
                  <a:ext uri="{FF2B5EF4-FFF2-40B4-BE49-F238E27FC236}">
                    <a16:creationId xmlns:a16="http://schemas.microsoft.com/office/drawing/2014/main" id="{53629D8A-972A-610D-A50F-2E1D1C575F38}"/>
                  </a:ext>
                </a:extLst>
              </p:cNvPr>
              <p:cNvSpPr/>
              <p:nvPr/>
            </p:nvSpPr>
            <p:spPr>
              <a:xfrm>
                <a:off x="3764334" y="2899996"/>
                <a:ext cx="4044701" cy="352856"/>
              </a:xfrm>
              <a:prstGeom prst="rect">
                <a:avLst/>
              </a:prstGeom>
              <a:solidFill>
                <a:srgbClr val="F3F4F6"/>
              </a:solidFill>
              <a:ln/>
            </p:spPr>
            <p:txBody>
              <a:bodyPr lIns="91440" tIns="45720" rIns="91440" bIns="45720" anchor="t"/>
              <a:lstStyle/>
              <a:p>
                <a:r>
                  <a:rPr lang="en-US" sz="1000" dirty="0" err="1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Até</a:t>
                </a:r>
                <a:r>
                  <a:rPr lang="en-US" sz="1000" dirty="0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 </a:t>
                </a:r>
                <a:r>
                  <a:rPr lang="en-US" sz="1000" b="1" dirty="0">
                    <a:solidFill>
                      <a:srgbClr val="3B82F6"/>
                    </a:solidFill>
                    <a:latin typeface="Noto Sans"/>
                    <a:ea typeface="Noto Sans"/>
                    <a:cs typeface="Noto Sans"/>
                  </a:rPr>
                  <a:t>4x </a:t>
                </a:r>
                <a:r>
                  <a:rPr lang="en-US" sz="1000" b="1" dirty="0" err="1">
                    <a:solidFill>
                      <a:srgbClr val="3B82F6"/>
                    </a:solidFill>
                    <a:latin typeface="Noto Sans"/>
                    <a:ea typeface="Noto Sans"/>
                    <a:cs typeface="Noto Sans"/>
                  </a:rPr>
                  <a:t>mais</a:t>
                </a:r>
                <a:r>
                  <a:rPr lang="en-US" sz="1000" b="1" dirty="0">
                    <a:solidFill>
                      <a:srgbClr val="3B82F6"/>
                    </a:solidFill>
                    <a:latin typeface="Noto Sans"/>
                    <a:ea typeface="Noto Sans"/>
                    <a:cs typeface="Noto Sans"/>
                  </a:rPr>
                  <a:t> </a:t>
                </a:r>
                <a:r>
                  <a:rPr lang="en-US" sz="1000" b="1" dirty="0" err="1">
                    <a:solidFill>
                      <a:srgbClr val="3B82F6"/>
                    </a:solidFill>
                    <a:latin typeface="Noto Sans"/>
                    <a:ea typeface="Noto Sans"/>
                    <a:cs typeface="Noto Sans"/>
                  </a:rPr>
                  <a:t>rápido</a:t>
                </a:r>
                <a:r>
                  <a:rPr lang="en-US" sz="1000" b="1" dirty="0">
                    <a:solidFill>
                      <a:srgbClr val="3B82F6"/>
                    </a:solidFill>
                    <a:latin typeface="Noto Sans"/>
                    <a:ea typeface="Noto Sans"/>
                    <a:cs typeface="Noto Sans"/>
                  </a:rPr>
                  <a:t> </a:t>
                </a:r>
                <a:r>
                  <a:rPr lang="en-US" sz="1000" dirty="0" err="1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que</a:t>
                </a:r>
                <a:r>
                  <a:rPr lang="en-US" sz="1000" dirty="0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 o </a:t>
                </a:r>
                <a:r>
                  <a:rPr lang="en-US" sz="1000" dirty="0" err="1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LoRA</a:t>
                </a:r>
                <a:r>
                  <a:rPr lang="en-US" sz="1000" dirty="0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 </a:t>
                </a:r>
                <a:r>
                  <a:rPr lang="en-US" sz="1000" dirty="0" err="1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tradicional</a:t>
                </a:r>
                <a:r>
                  <a:rPr lang="en-US" sz="1000" dirty="0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;</a:t>
                </a:r>
                <a:endParaRPr lang="pt-BR" dirty="0"/>
              </a:p>
            </p:txBody>
          </p:sp>
        </p:grp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CA60C9FA-DEE6-1C1E-FCDF-50B9E8ED644D}"/>
                </a:ext>
              </a:extLst>
            </p:cNvPr>
            <p:cNvGrpSpPr/>
            <p:nvPr/>
          </p:nvGrpSpPr>
          <p:grpSpPr>
            <a:xfrm>
              <a:off x="3991718" y="3725192"/>
              <a:ext cx="3941920" cy="289591"/>
              <a:chOff x="3680154" y="2896624"/>
              <a:chExt cx="4128881" cy="356228"/>
            </a:xfrm>
          </p:grpSpPr>
          <p:sp>
            <p:nvSpPr>
              <p:cNvPr id="32" name="Shape 14">
                <a:extLst>
                  <a:ext uri="{FF2B5EF4-FFF2-40B4-BE49-F238E27FC236}">
                    <a16:creationId xmlns:a16="http://schemas.microsoft.com/office/drawing/2014/main" id="{D92273F3-8C37-7D32-27E8-23EDFE9278FA}"/>
                  </a:ext>
                </a:extLst>
              </p:cNvPr>
              <p:cNvSpPr/>
              <p:nvPr/>
            </p:nvSpPr>
            <p:spPr>
              <a:xfrm>
                <a:off x="3680154" y="2896624"/>
                <a:ext cx="81601" cy="347217"/>
              </a:xfrm>
              <a:prstGeom prst="rect">
                <a:avLst/>
              </a:prstGeom>
              <a:solidFill>
                <a:srgbClr val="3B82F6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3" name="Shape 13">
                <a:extLst>
                  <a:ext uri="{FF2B5EF4-FFF2-40B4-BE49-F238E27FC236}">
                    <a16:creationId xmlns:a16="http://schemas.microsoft.com/office/drawing/2014/main" id="{608321F1-4833-D243-8827-F20B4AEAF13E}"/>
                  </a:ext>
                </a:extLst>
              </p:cNvPr>
              <p:cNvSpPr/>
              <p:nvPr/>
            </p:nvSpPr>
            <p:spPr>
              <a:xfrm>
                <a:off x="3764334" y="2899996"/>
                <a:ext cx="4044701" cy="352856"/>
              </a:xfrm>
              <a:prstGeom prst="rect">
                <a:avLst/>
              </a:prstGeom>
              <a:solidFill>
                <a:srgbClr val="F3F4F6"/>
              </a:solidFill>
              <a:ln/>
            </p:spPr>
            <p:txBody>
              <a:bodyPr lIns="91440" tIns="45720" rIns="91440" bIns="45720" anchor="t"/>
              <a:lstStyle/>
              <a:p>
                <a:r>
                  <a:rPr lang="en-US" sz="1000" dirty="0" err="1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Mantém</a:t>
                </a:r>
                <a:r>
                  <a:rPr lang="en-US" sz="1000" dirty="0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 a </a:t>
                </a:r>
                <a:r>
                  <a:rPr lang="en-US" sz="1000" dirty="0" err="1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qualidade</a:t>
                </a:r>
                <a:r>
                  <a:rPr lang="en-US" sz="1000" dirty="0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 do </a:t>
                </a:r>
                <a:r>
                  <a:rPr lang="en-US" sz="1000" dirty="0" err="1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modelo</a:t>
                </a:r>
                <a:r>
                  <a:rPr lang="en-US" sz="1000" dirty="0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 original.</a:t>
                </a:r>
                <a:endParaRPr lang="pt-BR" dirty="0"/>
              </a:p>
            </p:txBody>
          </p:sp>
        </p:grp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6E4912E9-59B6-2FDD-368C-A4C56EE5E97F}"/>
              </a:ext>
            </a:extLst>
          </p:cNvPr>
          <p:cNvGrpSpPr/>
          <p:nvPr/>
        </p:nvGrpSpPr>
        <p:grpSpPr>
          <a:xfrm>
            <a:off x="4489947" y="2098608"/>
            <a:ext cx="4183707" cy="1036941"/>
            <a:chOff x="3991718" y="2999822"/>
            <a:chExt cx="4129973" cy="1014961"/>
          </a:xfrm>
        </p:grpSpPr>
        <p:grpSp>
          <p:nvGrpSpPr>
            <p:cNvPr id="36" name="Agrupar 35">
              <a:extLst>
                <a:ext uri="{FF2B5EF4-FFF2-40B4-BE49-F238E27FC236}">
                  <a16:creationId xmlns:a16="http://schemas.microsoft.com/office/drawing/2014/main" id="{DBBFC8AD-757A-C270-5501-EE63A5834A1E}"/>
                </a:ext>
              </a:extLst>
            </p:cNvPr>
            <p:cNvGrpSpPr/>
            <p:nvPr/>
          </p:nvGrpSpPr>
          <p:grpSpPr>
            <a:xfrm>
              <a:off x="3991720" y="2999822"/>
              <a:ext cx="4101042" cy="282265"/>
              <a:chOff x="3680154" y="2896624"/>
              <a:chExt cx="4295550" cy="347217"/>
            </a:xfrm>
          </p:grpSpPr>
          <p:sp>
            <p:nvSpPr>
              <p:cNvPr id="43" name="Shape 14">
                <a:extLst>
                  <a:ext uri="{FF2B5EF4-FFF2-40B4-BE49-F238E27FC236}">
                    <a16:creationId xmlns:a16="http://schemas.microsoft.com/office/drawing/2014/main" id="{D3482F36-3859-6BB8-CADE-0537A3773D49}"/>
                  </a:ext>
                </a:extLst>
              </p:cNvPr>
              <p:cNvSpPr/>
              <p:nvPr/>
            </p:nvSpPr>
            <p:spPr>
              <a:xfrm>
                <a:off x="3680154" y="2896624"/>
                <a:ext cx="81601" cy="347217"/>
              </a:xfrm>
              <a:prstGeom prst="rect">
                <a:avLst/>
              </a:prstGeom>
              <a:solidFill>
                <a:srgbClr val="3B82F6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4" name="Shape 13">
                <a:extLst>
                  <a:ext uri="{FF2B5EF4-FFF2-40B4-BE49-F238E27FC236}">
                    <a16:creationId xmlns:a16="http://schemas.microsoft.com/office/drawing/2014/main" id="{FF42895A-A626-E42C-C7F8-AC274B3D3C83}"/>
                  </a:ext>
                </a:extLst>
              </p:cNvPr>
              <p:cNvSpPr/>
              <p:nvPr/>
            </p:nvSpPr>
            <p:spPr>
              <a:xfrm>
                <a:off x="3779485" y="2900187"/>
                <a:ext cx="4196219" cy="326391"/>
              </a:xfrm>
              <a:prstGeom prst="rect">
                <a:avLst/>
              </a:prstGeom>
              <a:solidFill>
                <a:srgbClr val="F3F4F6"/>
              </a:solidFill>
              <a:ln/>
            </p:spPr>
            <p:txBody>
              <a:bodyPr lIns="91440" tIns="45720" rIns="91440" bIns="45720" anchor="t"/>
              <a:lstStyle/>
              <a:p>
                <a:r>
                  <a:rPr lang="en-US" sz="1000" dirty="0" err="1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Quantização</a:t>
                </a:r>
                <a:r>
                  <a:rPr lang="en-US" sz="1000" dirty="0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 de 4-bits para </a:t>
                </a:r>
                <a:r>
                  <a:rPr lang="en-US" sz="1000" dirty="0" err="1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redução</a:t>
                </a:r>
                <a:r>
                  <a:rPr lang="en-US" sz="1000" dirty="0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 de </a:t>
                </a:r>
                <a:r>
                  <a:rPr lang="en-US" sz="1000" dirty="0" err="1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memória</a:t>
                </a:r>
                <a:r>
                  <a:rPr lang="en-US" sz="1000" dirty="0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;</a:t>
                </a:r>
                <a:endParaRPr lang="pt-BR" dirty="0">
                  <a:ea typeface="Calibri"/>
                  <a:cs typeface="Calibri"/>
                </a:endParaRPr>
              </a:p>
            </p:txBody>
          </p:sp>
        </p:grpSp>
        <p:grpSp>
          <p:nvGrpSpPr>
            <p:cNvPr id="37" name="Agrupar 36">
              <a:extLst>
                <a:ext uri="{FF2B5EF4-FFF2-40B4-BE49-F238E27FC236}">
                  <a16:creationId xmlns:a16="http://schemas.microsoft.com/office/drawing/2014/main" id="{16996FC2-EDBA-4D22-3AE0-207E414592B0}"/>
                </a:ext>
              </a:extLst>
            </p:cNvPr>
            <p:cNvGrpSpPr/>
            <p:nvPr/>
          </p:nvGrpSpPr>
          <p:grpSpPr>
            <a:xfrm>
              <a:off x="3991719" y="3366173"/>
              <a:ext cx="4122740" cy="289591"/>
              <a:chOff x="3680154" y="2896624"/>
              <a:chExt cx="4318277" cy="356228"/>
            </a:xfrm>
          </p:grpSpPr>
          <p:sp>
            <p:nvSpPr>
              <p:cNvPr id="41" name="Shape 14">
                <a:extLst>
                  <a:ext uri="{FF2B5EF4-FFF2-40B4-BE49-F238E27FC236}">
                    <a16:creationId xmlns:a16="http://schemas.microsoft.com/office/drawing/2014/main" id="{E7FF9009-D704-E1F6-B0B6-02CFB39BE44B}"/>
                  </a:ext>
                </a:extLst>
              </p:cNvPr>
              <p:cNvSpPr/>
              <p:nvPr/>
            </p:nvSpPr>
            <p:spPr>
              <a:xfrm>
                <a:off x="3680154" y="2896624"/>
                <a:ext cx="81601" cy="347217"/>
              </a:xfrm>
              <a:prstGeom prst="rect">
                <a:avLst/>
              </a:prstGeom>
              <a:solidFill>
                <a:srgbClr val="3B82F6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" name="Shape 13">
                <a:extLst>
                  <a:ext uri="{FF2B5EF4-FFF2-40B4-BE49-F238E27FC236}">
                    <a16:creationId xmlns:a16="http://schemas.microsoft.com/office/drawing/2014/main" id="{7E5436E0-7003-A582-7F15-4451E4462D7E}"/>
                  </a:ext>
                </a:extLst>
              </p:cNvPr>
              <p:cNvSpPr/>
              <p:nvPr/>
            </p:nvSpPr>
            <p:spPr>
              <a:xfrm>
                <a:off x="3787060" y="2899997"/>
                <a:ext cx="4211371" cy="352855"/>
              </a:xfrm>
              <a:prstGeom prst="rect">
                <a:avLst/>
              </a:prstGeom>
              <a:solidFill>
                <a:srgbClr val="F3F4F6"/>
              </a:solidFill>
              <a:ln/>
            </p:spPr>
            <p:txBody>
              <a:bodyPr lIns="91440" tIns="45720" rIns="91440" bIns="45720" anchor="t"/>
              <a:lstStyle/>
              <a:p>
                <a:r>
                  <a:rPr lang="en-US" sz="1000" dirty="0" err="1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Adaptadores</a:t>
                </a:r>
                <a:r>
                  <a:rPr lang="en-US" sz="1000" dirty="0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 de </a:t>
                </a:r>
                <a:r>
                  <a:rPr lang="en-US" sz="1000" dirty="0" err="1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baixo</a:t>
                </a:r>
                <a:r>
                  <a:rPr lang="en-US" sz="1000" dirty="0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 </a:t>
                </a:r>
                <a:r>
                  <a:rPr lang="en-US" sz="1000" dirty="0" err="1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posto</a:t>
                </a:r>
                <a:r>
                  <a:rPr lang="en-US" sz="1000" dirty="0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 para </a:t>
                </a:r>
                <a:r>
                  <a:rPr lang="en-US" sz="1000" dirty="0" err="1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treinamento</a:t>
                </a:r>
                <a:r>
                  <a:rPr lang="en-US" sz="1000" dirty="0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 </a:t>
                </a:r>
                <a:r>
                  <a:rPr lang="en-US" sz="1000" dirty="0" err="1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eficiente</a:t>
                </a:r>
                <a:r>
                  <a:rPr lang="en-US" sz="1000" dirty="0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;</a:t>
                </a:r>
                <a:endParaRPr lang="pt-BR" dirty="0">
                  <a:ea typeface="Calibri"/>
                  <a:cs typeface="Calibri"/>
                </a:endParaRPr>
              </a:p>
            </p:txBody>
          </p:sp>
        </p:grpSp>
        <p:grpSp>
          <p:nvGrpSpPr>
            <p:cNvPr id="38" name="Agrupar 37">
              <a:extLst>
                <a:ext uri="{FF2B5EF4-FFF2-40B4-BE49-F238E27FC236}">
                  <a16:creationId xmlns:a16="http://schemas.microsoft.com/office/drawing/2014/main" id="{A7A0D1EC-1A05-569F-CBBC-E7C836AB52D6}"/>
                </a:ext>
              </a:extLst>
            </p:cNvPr>
            <p:cNvGrpSpPr/>
            <p:nvPr/>
          </p:nvGrpSpPr>
          <p:grpSpPr>
            <a:xfrm>
              <a:off x="3991718" y="3725192"/>
              <a:ext cx="4129973" cy="289591"/>
              <a:chOff x="3680154" y="2896624"/>
              <a:chExt cx="4325853" cy="356228"/>
            </a:xfrm>
          </p:grpSpPr>
          <p:sp>
            <p:nvSpPr>
              <p:cNvPr id="39" name="Shape 14">
                <a:extLst>
                  <a:ext uri="{FF2B5EF4-FFF2-40B4-BE49-F238E27FC236}">
                    <a16:creationId xmlns:a16="http://schemas.microsoft.com/office/drawing/2014/main" id="{9F3C6E07-15F6-EF30-D25E-3E2C4764DBFA}"/>
                  </a:ext>
                </a:extLst>
              </p:cNvPr>
              <p:cNvSpPr/>
              <p:nvPr/>
            </p:nvSpPr>
            <p:spPr>
              <a:xfrm>
                <a:off x="3680154" y="2896624"/>
                <a:ext cx="81601" cy="347217"/>
              </a:xfrm>
              <a:prstGeom prst="rect">
                <a:avLst/>
              </a:prstGeom>
              <a:solidFill>
                <a:srgbClr val="3B82F6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0" name="Shape 13">
                <a:extLst>
                  <a:ext uri="{FF2B5EF4-FFF2-40B4-BE49-F238E27FC236}">
                    <a16:creationId xmlns:a16="http://schemas.microsoft.com/office/drawing/2014/main" id="{3D630A80-377F-4394-D3DC-7B8903794F61}"/>
                  </a:ext>
                </a:extLst>
              </p:cNvPr>
              <p:cNvSpPr/>
              <p:nvPr/>
            </p:nvSpPr>
            <p:spPr>
              <a:xfrm>
                <a:off x="3787060" y="2899997"/>
                <a:ext cx="4218947" cy="352855"/>
              </a:xfrm>
              <a:prstGeom prst="rect">
                <a:avLst/>
              </a:prstGeom>
              <a:solidFill>
                <a:srgbClr val="F3F4F6"/>
              </a:solidFill>
              <a:ln/>
            </p:spPr>
            <p:txBody>
              <a:bodyPr lIns="91440" tIns="45720" rIns="91440" bIns="45720" anchor="t"/>
              <a:lstStyle/>
              <a:p>
                <a:r>
                  <a:rPr lang="en-US" sz="1000" dirty="0" err="1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Otimização</a:t>
                </a:r>
                <a:r>
                  <a:rPr lang="en-US" sz="1000" dirty="0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 para </a:t>
                </a:r>
                <a:r>
                  <a:rPr lang="en-US" sz="1000" dirty="0" err="1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ambiente</a:t>
                </a:r>
                <a:r>
                  <a:rPr lang="en-US" sz="1000" dirty="0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 com </a:t>
                </a:r>
                <a:r>
                  <a:rPr lang="en-US" sz="1000" dirty="0" err="1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recursos</a:t>
                </a:r>
                <a:r>
                  <a:rPr lang="en-US" sz="1000" dirty="0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 </a:t>
                </a:r>
                <a:r>
                  <a:rPr lang="en-US" sz="1000" dirty="0" err="1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limitados</a:t>
                </a:r>
                <a:r>
                  <a:rPr lang="en-US" sz="1000" dirty="0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 (</a:t>
                </a:r>
                <a:r>
                  <a:rPr lang="en-US" sz="1000" dirty="0" err="1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GoogleColab</a:t>
                </a:r>
                <a:r>
                  <a:rPr lang="en-US" sz="1000" dirty="0">
                    <a:solidFill>
                      <a:srgbClr val="111827"/>
                    </a:solidFill>
                    <a:latin typeface="Noto Sans"/>
                    <a:ea typeface="Noto Sans"/>
                    <a:cs typeface="Noto Sans"/>
                  </a:rPr>
                  <a:t>)</a:t>
                </a: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" y="79375"/>
            <a:ext cx="9144000" cy="57578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Resultados e Desafios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342900" y="900113"/>
            <a:ext cx="4000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Métricas de Treinamento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1271588"/>
            <a:ext cx="4000500" cy="21431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42900" y="3537942"/>
            <a:ext cx="271219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Convergência anêmica: loss inicial entre </a:t>
            </a:r>
            <a:endParaRPr lang="en-US" sz="1046" dirty="0"/>
          </a:p>
        </p:txBody>
      </p:sp>
      <p:sp>
        <p:nvSpPr>
          <p:cNvPr id="7" name="Text 3"/>
          <p:cNvSpPr/>
          <p:nvPr/>
        </p:nvSpPr>
        <p:spPr>
          <a:xfrm>
            <a:off x="3055097" y="3537942"/>
            <a:ext cx="45265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3.0-3.4</a:t>
            </a:r>
            <a:endParaRPr lang="en-US" sz="1046" dirty="0"/>
          </a:p>
        </p:txBody>
      </p:sp>
      <p:sp>
        <p:nvSpPr>
          <p:cNvPr id="8" name="Text 4"/>
          <p:cNvSpPr/>
          <p:nvPr/>
        </p:nvSpPr>
        <p:spPr>
          <a:xfrm>
            <a:off x="3507749" y="3537942"/>
            <a:ext cx="3831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endParaRPr lang="en-US" sz="1046" dirty="0"/>
          </a:p>
        </p:txBody>
      </p:sp>
      <p:sp>
        <p:nvSpPr>
          <p:cNvPr id="9" name="Text 5"/>
          <p:cNvSpPr/>
          <p:nvPr/>
        </p:nvSpPr>
        <p:spPr>
          <a:xfrm>
            <a:off x="342900" y="3752255"/>
            <a:ext cx="123115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estagnando entre </a:t>
            </a:r>
            <a:endParaRPr lang="en-US" sz="1046" dirty="0"/>
          </a:p>
        </p:txBody>
      </p:sp>
      <p:sp>
        <p:nvSpPr>
          <p:cNvPr id="10" name="Text 6"/>
          <p:cNvSpPr/>
          <p:nvPr/>
        </p:nvSpPr>
        <p:spPr>
          <a:xfrm>
            <a:off x="1574053" y="3752255"/>
            <a:ext cx="45265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1.9-2.3</a:t>
            </a:r>
            <a:endParaRPr lang="en-US" sz="1046" dirty="0"/>
          </a:p>
        </p:txBody>
      </p:sp>
      <p:sp>
        <p:nvSpPr>
          <p:cNvPr id="11" name="Text 7"/>
          <p:cNvSpPr/>
          <p:nvPr/>
        </p:nvSpPr>
        <p:spPr>
          <a:xfrm>
            <a:off x="342900" y="3966567"/>
            <a:ext cx="168779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Valor mínimo alcançado: </a:t>
            </a:r>
            <a:endParaRPr lang="en-US" sz="1046" dirty="0"/>
          </a:p>
        </p:txBody>
      </p:sp>
      <p:sp>
        <p:nvSpPr>
          <p:cNvPr id="12" name="Text 8"/>
          <p:cNvSpPr/>
          <p:nvPr/>
        </p:nvSpPr>
        <p:spPr>
          <a:xfrm>
            <a:off x="2030695" y="3966567"/>
            <a:ext cx="28505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1.78</a:t>
            </a:r>
            <a:endParaRPr lang="en-US" sz="1046" dirty="0"/>
          </a:p>
        </p:txBody>
      </p:sp>
      <p:sp>
        <p:nvSpPr>
          <p:cNvPr id="13" name="Text 9"/>
          <p:cNvSpPr/>
          <p:nvPr/>
        </p:nvSpPr>
        <p:spPr>
          <a:xfrm>
            <a:off x="2315747" y="3966567"/>
            <a:ext cx="17486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(abaixo do ideal para SFT)</a:t>
            </a:r>
            <a:endParaRPr lang="en-US" sz="1046" dirty="0"/>
          </a:p>
        </p:txBody>
      </p:sp>
      <p:sp>
        <p:nvSpPr>
          <p:cNvPr id="15" name="Text 10"/>
          <p:cNvSpPr/>
          <p:nvPr/>
        </p:nvSpPr>
        <p:spPr>
          <a:xfrm>
            <a:off x="4829175" y="900113"/>
            <a:ext cx="41148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Principais Desafios</a:t>
            </a:r>
            <a:endParaRPr lang="en-US" sz="13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175" y="1278732"/>
            <a:ext cx="142875" cy="1428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72024" y="1251943"/>
            <a:ext cx="4067808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Conflito entre template Alpaca e formato pré-treinado do modelo</a:t>
            </a:r>
            <a:endParaRPr lang="en-US" sz="1046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9175" y="1764507"/>
            <a:ext cx="160734" cy="1428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47059" y="1737718"/>
            <a:ext cx="275765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Limitações de memória do Google Colab</a:t>
            </a:r>
            <a:endParaRPr lang="en-US" sz="1046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175" y="2035969"/>
            <a:ext cx="142875" cy="14287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029200" y="2009181"/>
            <a:ext cx="351087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Dificuldade em alcançar perda de treinamento ideal</a:t>
            </a:r>
            <a:endParaRPr lang="en-US" sz="1046" dirty="0"/>
          </a:p>
        </p:txBody>
      </p:sp>
      <p:sp>
        <p:nvSpPr>
          <p:cNvPr id="22" name="Text 14"/>
          <p:cNvSpPr/>
          <p:nvPr/>
        </p:nvSpPr>
        <p:spPr>
          <a:xfrm>
            <a:off x="334963" y="4373563"/>
            <a:ext cx="84582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Lições Aprendidas</a:t>
            </a:r>
            <a:endParaRPr lang="en-US" sz="13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025" y="4728369"/>
            <a:ext cx="107156" cy="14287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91331" y="4701580"/>
            <a:ext cx="241832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Escolha do template é crítica para o </a:t>
            </a:r>
            <a:endParaRPr lang="en-US" sz="1046" dirty="0"/>
          </a:p>
        </p:txBody>
      </p:sp>
      <p:sp>
        <p:nvSpPr>
          <p:cNvPr id="25" name="Text 16"/>
          <p:cNvSpPr/>
          <p:nvPr/>
        </p:nvSpPr>
        <p:spPr>
          <a:xfrm>
            <a:off x="327025" y="4915893"/>
            <a:ext cx="151991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sucesso do fine-tuning</a:t>
            </a:r>
            <a:endParaRPr lang="en-US" sz="1046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84525" y="4728369"/>
            <a:ext cx="178594" cy="14287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420269" y="4701580"/>
            <a:ext cx="236031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QLoRA é essencial para otimização </a:t>
            </a:r>
            <a:endParaRPr lang="en-US" sz="1046" dirty="0"/>
          </a:p>
        </p:txBody>
      </p:sp>
      <p:sp>
        <p:nvSpPr>
          <p:cNvPr id="28" name="Text 18"/>
          <p:cNvSpPr/>
          <p:nvPr/>
        </p:nvSpPr>
        <p:spPr>
          <a:xfrm>
            <a:off x="3184525" y="4915893"/>
            <a:ext cx="78154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 recursos</a:t>
            </a:r>
            <a:endParaRPr lang="en-US" sz="1046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42025" y="4728369"/>
            <a:ext cx="125016" cy="142875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224191" y="4721969"/>
            <a:ext cx="224099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Amostragem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randomizada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US" sz="1000" dirty="0" err="1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preserva</a:t>
            </a:r>
            <a:r>
              <a:rPr lang="en-US" sz="1000" dirty="0">
                <a:solidFill>
                  <a:srgbClr val="111827"/>
                </a:solidFill>
                <a:latin typeface="Noto Sans"/>
                <a:ea typeface="Noto Sans"/>
                <a:cs typeface="Noto Sans"/>
              </a:rPr>
              <a:t> </a:t>
            </a:r>
            <a:endParaRPr lang="en-US" sz="1000" dirty="0">
              <a:latin typeface="Noto Sans"/>
              <a:ea typeface="Noto Sans"/>
              <a:cs typeface="Noto Sans"/>
            </a:endParaRPr>
          </a:p>
        </p:txBody>
      </p:sp>
      <p:sp>
        <p:nvSpPr>
          <p:cNvPr id="31" name="Text 20"/>
          <p:cNvSpPr/>
          <p:nvPr/>
        </p:nvSpPr>
        <p:spPr>
          <a:xfrm>
            <a:off x="6042025" y="4915893"/>
            <a:ext cx="126475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representatividade</a:t>
            </a:r>
            <a:endParaRPr lang="en-US" sz="1046" dirty="0"/>
          </a:p>
        </p:txBody>
      </p:sp>
      <p:sp>
        <p:nvSpPr>
          <p:cNvPr id="32" name="Text 21"/>
          <p:cNvSpPr/>
          <p:nvPr/>
        </p:nvSpPr>
        <p:spPr>
          <a:xfrm>
            <a:off x="7627403" y="5334733"/>
            <a:ext cx="117076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Grupo 49 - FIAP Pós-Tech</a:t>
            </a:r>
            <a:endParaRPr lang="en-US" sz="732" dirty="0"/>
          </a:p>
        </p:txBody>
      </p:sp>
      <p:sp>
        <p:nvSpPr>
          <p:cNvPr id="14" name="AutoShape 2">
            <a:extLst>
              <a:ext uri="{FF2B5EF4-FFF2-40B4-BE49-F238E27FC236}">
                <a16:creationId xmlns:a16="http://schemas.microsoft.com/office/drawing/2014/main" id="{F56945BD-7DA9-8E8F-2ABA-9ACFD9894C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D959A741-EDF1-D805-C06E-8D7699170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9541" y="2262958"/>
            <a:ext cx="3555647" cy="2355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3150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Conclusão e Modelo Final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342900" y="900113"/>
            <a:ext cx="4000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Principais Conclusões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342900" y="1271588"/>
            <a:ext cx="4000500" cy="60007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342900" y="1271588"/>
            <a:ext cx="28575" cy="6000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28625" y="1366242"/>
            <a:ext cx="132502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uso da biblioteca </a:t>
            </a:r>
            <a:endParaRPr lang="en-US" sz="1046" dirty="0"/>
          </a:p>
        </p:txBody>
      </p:sp>
      <p:sp>
        <p:nvSpPr>
          <p:cNvPr id="8" name="Text 5"/>
          <p:cNvSpPr/>
          <p:nvPr/>
        </p:nvSpPr>
        <p:spPr>
          <a:xfrm>
            <a:off x="1753651" y="1366242"/>
            <a:ext cx="54694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Unsloth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2300594" y="1366242"/>
            <a:ext cx="87184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da técnica </a:t>
            </a:r>
            <a:endParaRPr lang="en-US" sz="1046" dirty="0"/>
          </a:p>
        </p:txBody>
      </p:sp>
      <p:sp>
        <p:nvSpPr>
          <p:cNvPr id="10" name="Text 7"/>
          <p:cNvSpPr/>
          <p:nvPr/>
        </p:nvSpPr>
        <p:spPr>
          <a:xfrm>
            <a:off x="3172439" y="1366242"/>
            <a:ext cx="46735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QLoRA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3639796" y="1366242"/>
            <a:ext cx="51209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provou 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428625" y="1580555"/>
            <a:ext cx="324926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 eficaz para lidar com restrições de hardware.</a:t>
            </a:r>
            <a:endParaRPr lang="en-US" sz="1046" dirty="0"/>
          </a:p>
        </p:txBody>
      </p:sp>
      <p:sp>
        <p:nvSpPr>
          <p:cNvPr id="13" name="Shape 10"/>
          <p:cNvSpPr/>
          <p:nvPr/>
        </p:nvSpPr>
        <p:spPr>
          <a:xfrm>
            <a:off x="342900" y="1985963"/>
            <a:ext cx="4000500" cy="81438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342900" y="1985963"/>
            <a:ext cx="28575" cy="8143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428625" y="2071688"/>
            <a:ext cx="38290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escolha do template de treinamento é um fator crítico para o sucesso do fine-tuning, especialmente com modelos pré-treinados.</a:t>
            </a:r>
            <a:endParaRPr lang="en-US" sz="1046" dirty="0"/>
          </a:p>
        </p:txBody>
      </p:sp>
      <p:sp>
        <p:nvSpPr>
          <p:cNvPr id="16" name="Shape 13"/>
          <p:cNvSpPr/>
          <p:nvPr/>
        </p:nvSpPr>
        <p:spPr>
          <a:xfrm>
            <a:off x="342900" y="2914650"/>
            <a:ext cx="4000500" cy="81438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342900" y="2914650"/>
            <a:ext cx="28575" cy="8143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428625" y="3000375"/>
            <a:ext cx="38290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Apesar dos desafios, o projeto alcançou seu objetivo de especializar um modelo para geração de descrições de produtos.</a:t>
            </a:r>
            <a:endParaRPr lang="en-US" sz="1046" dirty="0"/>
          </a:p>
        </p:txBody>
      </p:sp>
      <p:sp>
        <p:nvSpPr>
          <p:cNvPr id="19" name="Text 16"/>
          <p:cNvSpPr/>
          <p:nvPr/>
        </p:nvSpPr>
        <p:spPr>
          <a:xfrm>
            <a:off x="342900" y="3900488"/>
            <a:ext cx="4000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Modelo Final</a:t>
            </a:r>
            <a:endParaRPr lang="en-US" sz="13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4307681"/>
            <a:ext cx="139303" cy="14287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27811" y="4280892"/>
            <a:ext cx="313339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robsoncalixto/Llama-3.2-1B-finetuning-grp49</a:t>
            </a:r>
            <a:endParaRPr lang="en-US" sz="1046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4579144"/>
            <a:ext cx="142875" cy="14287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2925" y="4552355"/>
            <a:ext cx="22280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Disponível no Hugging Face Hub</a:t>
            </a:r>
            <a:endParaRPr lang="en-US" sz="1046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4850606"/>
            <a:ext cx="107156" cy="14287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07206" y="4823817"/>
            <a:ext cx="27323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Formato GGUF (compatível com Ollama)</a:t>
            </a:r>
            <a:endParaRPr lang="en-US" sz="1046" dirty="0"/>
          </a:p>
        </p:txBody>
      </p:sp>
      <p:sp>
        <p:nvSpPr>
          <p:cNvPr id="27" name="Text 20"/>
          <p:cNvSpPr/>
          <p:nvPr/>
        </p:nvSpPr>
        <p:spPr>
          <a:xfrm>
            <a:off x="4572000" y="3857625"/>
            <a:ext cx="42291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experiência adquirida neste trabalho reforça a importância de uma metodologia estruturada e da compreensão aprofundada das técnicas de fine-tuning.</a:t>
            </a:r>
            <a:endParaRPr lang="en-US" sz="1046" dirty="0"/>
          </a:p>
        </p:txBody>
      </p:sp>
      <p:sp>
        <p:nvSpPr>
          <p:cNvPr id="28" name="Text 21"/>
          <p:cNvSpPr/>
          <p:nvPr/>
        </p:nvSpPr>
        <p:spPr>
          <a:xfrm>
            <a:off x="342900" y="5200650"/>
            <a:ext cx="84582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Próximos Passos</a:t>
            </a:r>
            <a:endParaRPr lang="en-US" sz="135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" y="5572125"/>
            <a:ext cx="142875" cy="14287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71500" y="5543550"/>
            <a:ext cx="2514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Explorar diferentes templates de treinamento</a:t>
            </a:r>
            <a:endParaRPr lang="en-US" sz="1046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5572125"/>
            <a:ext cx="142875" cy="14287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3429000" y="5543550"/>
            <a:ext cx="2514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Testar com datasets maiores em ambientes com mais recursos</a:t>
            </a:r>
            <a:endParaRPr lang="en-US" sz="1046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7900" y="5572125"/>
            <a:ext cx="178594" cy="14287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322219" y="5543550"/>
            <a:ext cx="24788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1118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Aplicar o modelo em cenários reais de e-commerce</a:t>
            </a:r>
            <a:endParaRPr lang="en-US" sz="1046" dirty="0"/>
          </a:p>
        </p:txBody>
      </p:sp>
      <p:sp>
        <p:nvSpPr>
          <p:cNvPr id="35" name="Text 25"/>
          <p:cNvSpPr/>
          <p:nvPr/>
        </p:nvSpPr>
        <p:spPr>
          <a:xfrm>
            <a:off x="7414922" y="5891579"/>
            <a:ext cx="117076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Grupo 49 - FIAP Pós-Tech</a:t>
            </a:r>
            <a:endParaRPr lang="en-US" sz="732" dirty="0"/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71021A50-9899-E893-4E53-0325E9DF15C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0587" y="931367"/>
            <a:ext cx="4316593" cy="29235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AA6E0-41BD-70E1-3FEE-103030C72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65E69F8-5532-BAE8-0B4C-69244D7A4B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 r="-1" b="28100"/>
          <a:stretch>
            <a:fillRect/>
          </a:stretch>
        </p:blipFill>
        <p:spPr>
          <a:xfrm>
            <a:off x="0" y="7"/>
            <a:ext cx="9144000" cy="5141983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8BE95F77-7467-430F-9CE3-D24439F20746}"/>
              </a:ext>
            </a:extLst>
          </p:cNvPr>
          <p:cNvSpPr txBox="1">
            <a:spLocks/>
          </p:cNvSpPr>
          <p:nvPr/>
        </p:nvSpPr>
        <p:spPr>
          <a:xfrm>
            <a:off x="536141" y="1722857"/>
            <a:ext cx="8173683" cy="1388734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err="1">
                <a:solidFill>
                  <a:schemeClr val="bg1"/>
                </a:solidFill>
              </a:rPr>
              <a:t>Demonstração</a:t>
            </a:r>
            <a:r>
              <a:rPr lang="en-US" sz="3200" b="1" dirty="0">
                <a:solidFill>
                  <a:schemeClr val="bg1"/>
                </a:solidFill>
              </a:rPr>
              <a:t> do Uso do </a:t>
            </a:r>
            <a:r>
              <a:rPr lang="en-US" sz="3200" b="1" dirty="0" err="1">
                <a:solidFill>
                  <a:schemeClr val="bg1"/>
                </a:solidFill>
              </a:rPr>
              <a:t>Modelo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Com Fine-Tuning</a:t>
            </a:r>
            <a:endParaRPr lang="pt-BR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1506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730</Words>
  <Application>Microsoft Office PowerPoint</Application>
  <PresentationFormat>Apresentação na tela (16:9)</PresentationFormat>
  <Paragraphs>126</Paragraphs>
  <Slides>9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Noto Sans</vt:lpstr>
      <vt:lpstr>Office Theme</vt:lpstr>
      <vt:lpstr>Tech Challenge – Fase 3 Grupo 49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Robson Calixto</cp:lastModifiedBy>
  <cp:revision>325</cp:revision>
  <dcterms:created xsi:type="dcterms:W3CDTF">2025-09-29T05:38:01Z</dcterms:created>
  <dcterms:modified xsi:type="dcterms:W3CDTF">2025-10-08T04:27:57Z</dcterms:modified>
</cp:coreProperties>
</file>